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0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OJIT SAMANTA" userId="c6a1b9be0e9f5584" providerId="LiveId" clId="{630F4618-FCEF-4AE5-B5B1-D0D9B2595B7F}"/>
    <pc:docChg chg="undo custSel modSld">
      <pc:chgData name="MONOJIT SAMANTA" userId="c6a1b9be0e9f5584" providerId="LiveId" clId="{630F4618-FCEF-4AE5-B5B1-D0D9B2595B7F}" dt="2026-08-16T19:54:40.249" v="248" actId="27918"/>
      <pc:docMkLst>
        <pc:docMk/>
      </pc:docMkLst>
      <pc:sldChg chg="modSp mod">
        <pc:chgData name="MONOJIT SAMANTA" userId="c6a1b9be0e9f5584" providerId="LiveId" clId="{630F4618-FCEF-4AE5-B5B1-D0D9B2595B7F}" dt="2026-08-16T19:52:18.865" v="242" actId="20577"/>
        <pc:sldMkLst>
          <pc:docMk/>
          <pc:sldMk cId="0" sldId="256"/>
        </pc:sldMkLst>
        <pc:spChg chg="mod">
          <ac:chgData name="MONOJIT SAMANTA" userId="c6a1b9be0e9f5584" providerId="LiveId" clId="{630F4618-FCEF-4AE5-B5B1-D0D9B2595B7F}" dt="2026-08-16T19:52:18.865" v="24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6:03:13.835" v="0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6:03:37.529" v="21" actId="1038"/>
          <ac:spMkLst>
            <pc:docMk/>
            <pc:sldMk cId="0" sldId="256"/>
            <ac:spMk id="9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6:03:37.529" v="21" actId="103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6:03:37.529" v="21" actId="103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6:03:37.529" v="21" actId="103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6:03:37.529" v="21" actId="103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6:03:37.529" v="21" actId="1038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MONOJIT SAMANTA" userId="c6a1b9be0e9f5584" providerId="LiveId" clId="{630F4618-FCEF-4AE5-B5B1-D0D9B2595B7F}" dt="2026-08-16T19:01:58.739" v="35" actId="20577"/>
        <pc:sldMkLst>
          <pc:docMk/>
          <pc:sldMk cId="0" sldId="257"/>
        </pc:sldMkLst>
        <pc:spChg chg="mod">
          <ac:chgData name="MONOJIT SAMANTA" userId="c6a1b9be0e9f5584" providerId="LiveId" clId="{630F4618-FCEF-4AE5-B5B1-D0D9B2595B7F}" dt="2026-08-16T19:01:58.739" v="35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MONOJIT SAMANTA" userId="c6a1b9be0e9f5584" providerId="LiveId" clId="{630F4618-FCEF-4AE5-B5B1-D0D9B2595B7F}" dt="2026-08-16T19:26:04.482" v="65" actId="20577"/>
        <pc:sldMkLst>
          <pc:docMk/>
          <pc:sldMk cId="0" sldId="258"/>
        </pc:sldMkLst>
        <pc:spChg chg="mod">
          <ac:chgData name="MONOJIT SAMANTA" userId="c6a1b9be0e9f5584" providerId="LiveId" clId="{630F4618-FCEF-4AE5-B5B1-D0D9B2595B7F}" dt="2026-08-16T19:26:04.482" v="65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MONOJIT SAMANTA" userId="c6a1b9be0e9f5584" providerId="LiveId" clId="{630F4618-FCEF-4AE5-B5B1-D0D9B2595B7F}" dt="2026-08-16T19:30:02.285" v="79" actId="207"/>
        <pc:sldMkLst>
          <pc:docMk/>
          <pc:sldMk cId="0" sldId="260"/>
        </pc:sldMkLst>
        <pc:spChg chg="mod">
          <ac:chgData name="MONOJIT SAMANTA" userId="c6a1b9be0e9f5584" providerId="LiveId" clId="{630F4618-FCEF-4AE5-B5B1-D0D9B2595B7F}" dt="2026-08-16T19:30:02.285" v="79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29:52.549" v="78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28:49.833" v="66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MONOJIT SAMANTA" userId="c6a1b9be0e9f5584" providerId="LiveId" clId="{630F4618-FCEF-4AE5-B5B1-D0D9B2595B7F}" dt="2026-08-16T19:31:27.978" v="90" actId="20577"/>
        <pc:sldMkLst>
          <pc:docMk/>
          <pc:sldMk cId="0" sldId="261"/>
        </pc:sldMkLst>
        <pc:graphicFrameChg chg="modGraphic">
          <ac:chgData name="MONOJIT SAMANTA" userId="c6a1b9be0e9f5584" providerId="LiveId" clId="{630F4618-FCEF-4AE5-B5B1-D0D9B2595B7F}" dt="2026-08-16T19:31:27.978" v="90" actId="2057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mod">
        <pc:chgData name="MONOJIT SAMANTA" userId="c6a1b9be0e9f5584" providerId="LiveId" clId="{630F4618-FCEF-4AE5-B5B1-D0D9B2595B7F}" dt="2026-08-16T19:35:55.120" v="97"/>
        <pc:sldMkLst>
          <pc:docMk/>
          <pc:sldMk cId="0" sldId="264"/>
        </pc:sldMkLst>
        <pc:spChg chg="mod">
          <ac:chgData name="MONOJIT SAMANTA" userId="c6a1b9be0e9f5584" providerId="LiveId" clId="{630F4618-FCEF-4AE5-B5B1-D0D9B2595B7F}" dt="2026-08-16T19:35:55.120" v="97"/>
          <ac:spMkLst>
            <pc:docMk/>
            <pc:sldMk cId="0" sldId="264"/>
            <ac:spMk id="5" creationId="{00000000-0000-0000-0000-000000000000}"/>
          </ac:spMkLst>
        </pc:spChg>
        <pc:graphicFrameChg chg="modGraphic">
          <ac:chgData name="MONOJIT SAMANTA" userId="c6a1b9be0e9f5584" providerId="LiveId" clId="{630F4618-FCEF-4AE5-B5B1-D0D9B2595B7F}" dt="2026-08-16T19:35:06.982" v="95" actId="20577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MONOJIT SAMANTA" userId="c6a1b9be0e9f5584" providerId="LiveId" clId="{630F4618-FCEF-4AE5-B5B1-D0D9B2595B7F}" dt="2026-08-16T19:53:00.925" v="244" actId="20577"/>
        <pc:sldMkLst>
          <pc:docMk/>
          <pc:sldMk cId="0" sldId="265"/>
        </pc:sldMkLst>
        <pc:spChg chg="mod">
          <ac:chgData name="MONOJIT SAMANTA" userId="c6a1b9be0e9f5584" providerId="LiveId" clId="{630F4618-FCEF-4AE5-B5B1-D0D9B2595B7F}" dt="2026-08-16T19:53:00.925" v="244" actId="20577"/>
          <ac:spMkLst>
            <pc:docMk/>
            <pc:sldMk cId="0" sldId="265"/>
            <ac:spMk id="9" creationId="{00000000-0000-0000-0000-000000000000}"/>
          </ac:spMkLst>
        </pc:spChg>
      </pc:sldChg>
      <pc:sldChg chg="delSp modSp mod">
        <pc:chgData name="MONOJIT SAMANTA" userId="c6a1b9be0e9f5584" providerId="LiveId" clId="{630F4618-FCEF-4AE5-B5B1-D0D9B2595B7F}" dt="2026-08-16T19:41:26.112" v="180" actId="1076"/>
        <pc:sldMkLst>
          <pc:docMk/>
          <pc:sldMk cId="0" sldId="267"/>
        </pc:sldMkLst>
        <pc:spChg chg="del mod">
          <ac:chgData name="MONOJIT SAMANTA" userId="c6a1b9be0e9f5584" providerId="LiveId" clId="{630F4618-FCEF-4AE5-B5B1-D0D9B2595B7F}" dt="2026-08-16T19:41:10.980" v="177" actId="478"/>
          <ac:spMkLst>
            <pc:docMk/>
            <pc:sldMk cId="0" sldId="267"/>
            <ac:spMk id="5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41:26.112" v="180" actId="1076"/>
          <ac:spMkLst>
            <pc:docMk/>
            <pc:sldMk cId="0" sldId="267"/>
            <ac:spMk id="7" creationId="{00000000-0000-0000-0000-000000000000}"/>
          </ac:spMkLst>
        </pc:spChg>
        <pc:picChg chg="mod">
          <ac:chgData name="MONOJIT SAMANTA" userId="c6a1b9be0e9f5584" providerId="LiveId" clId="{630F4618-FCEF-4AE5-B5B1-D0D9B2595B7F}" dt="2026-08-16T19:41:18.478" v="17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mod">
        <pc:chgData name="MONOJIT SAMANTA" userId="c6a1b9be0e9f5584" providerId="LiveId" clId="{630F4618-FCEF-4AE5-B5B1-D0D9B2595B7F}" dt="2026-08-16T19:54:40.249" v="248" actId="27918"/>
        <pc:sldMkLst>
          <pc:docMk/>
          <pc:sldMk cId="0" sldId="269"/>
        </pc:sldMkLst>
      </pc:sldChg>
      <pc:sldChg chg="modSp mod">
        <pc:chgData name="MONOJIT SAMANTA" userId="c6a1b9be0e9f5584" providerId="LiveId" clId="{630F4618-FCEF-4AE5-B5B1-D0D9B2595B7F}" dt="2026-08-16T19:43:29.144" v="201" actId="20577"/>
        <pc:sldMkLst>
          <pc:docMk/>
          <pc:sldMk cId="0" sldId="271"/>
        </pc:sldMkLst>
        <pc:spChg chg="mod">
          <ac:chgData name="MONOJIT SAMANTA" userId="c6a1b9be0e9f5584" providerId="LiveId" clId="{630F4618-FCEF-4AE5-B5B1-D0D9B2595B7F}" dt="2026-08-16T19:42:40.428" v="183" actId="20577"/>
          <ac:spMkLst>
            <pc:docMk/>
            <pc:sldMk cId="0" sldId="271"/>
            <ac:spMk id="5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43:29.144" v="201" actId="20577"/>
          <ac:spMkLst>
            <pc:docMk/>
            <pc:sldMk cId="0" sldId="271"/>
            <ac:spMk id="7" creationId="{00000000-0000-0000-0000-000000000000}"/>
          </ac:spMkLst>
        </pc:spChg>
      </pc:sldChg>
      <pc:sldChg chg="modSp mod">
        <pc:chgData name="MONOJIT SAMANTA" userId="c6a1b9be0e9f5584" providerId="LiveId" clId="{630F4618-FCEF-4AE5-B5B1-D0D9B2595B7F}" dt="2026-08-16T19:48:55.279" v="235" actId="403"/>
        <pc:sldMkLst>
          <pc:docMk/>
          <pc:sldMk cId="0" sldId="273"/>
        </pc:sldMkLst>
        <pc:spChg chg="mod">
          <ac:chgData name="MONOJIT SAMANTA" userId="c6a1b9be0e9f5584" providerId="LiveId" clId="{630F4618-FCEF-4AE5-B5B1-D0D9B2595B7F}" dt="2026-08-16T19:48:55.279" v="235" actId="403"/>
          <ac:spMkLst>
            <pc:docMk/>
            <pc:sldMk cId="0" sldId="273"/>
            <ac:spMk id="2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45:34.759" v="209" actId="113"/>
          <ac:spMkLst>
            <pc:docMk/>
            <pc:sldMk cId="0" sldId="273"/>
            <ac:spMk id="7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45:27.793" v="207" actId="113"/>
          <ac:spMkLst>
            <pc:docMk/>
            <pc:sldMk cId="0" sldId="273"/>
            <ac:spMk id="10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46:32.719" v="213" actId="113"/>
          <ac:spMkLst>
            <pc:docMk/>
            <pc:sldMk cId="0" sldId="273"/>
            <ac:spMk id="16" creationId="{00000000-0000-0000-0000-000000000000}"/>
          </ac:spMkLst>
        </pc:spChg>
      </pc:sldChg>
      <pc:sldChg chg="modSp mod">
        <pc:chgData name="MONOJIT SAMANTA" userId="c6a1b9be0e9f5584" providerId="LiveId" clId="{630F4618-FCEF-4AE5-B5B1-D0D9B2595B7F}" dt="2026-08-16T19:54:07.858" v="246" actId="20577"/>
        <pc:sldMkLst>
          <pc:docMk/>
          <pc:sldMk cId="0" sldId="274"/>
        </pc:sldMkLst>
        <pc:spChg chg="mod">
          <ac:chgData name="MONOJIT SAMANTA" userId="c6a1b9be0e9f5584" providerId="LiveId" clId="{630F4618-FCEF-4AE5-B5B1-D0D9B2595B7F}" dt="2026-08-16T19:48:58.662" v="240" actId="20577"/>
          <ac:spMkLst>
            <pc:docMk/>
            <pc:sldMk cId="0" sldId="274"/>
            <ac:spMk id="2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48:04.845" v="215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MONOJIT SAMANTA" userId="c6a1b9be0e9f5584" providerId="LiveId" clId="{630F4618-FCEF-4AE5-B5B1-D0D9B2595B7F}" dt="2026-08-16T19:54:07.858" v="246" actId="20577"/>
          <ac:spMkLst>
            <pc:docMk/>
            <pc:sldMk cId="0" sldId="274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Opex % of Revenue</c:v>
                </c:pt>
              </c:strCache>
            </c:strRef>
          </c:tx>
          <c:spPr>
            <a:solidFill>
              <a:srgbClr val="8FA8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FE-496E-8BC0-26B8A6365B9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6FE-496E-8BC0-26B8A6365B9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6FE-496E-8BC0-26B8A6365B9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6FE-496E-8BC0-26B8A6365B94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FE-496E-8BC0-26B8A6365B94}"/>
              </c:ext>
            </c:extLst>
          </c:dPt>
          <c:dPt>
            <c:idx val="5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6FE-496E-8BC0-26B8A6365B9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  <c:pt idx="5">
                  <c:v>2026F Base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13.2</c:v>
                </c:pt>
                <c:pt idx="1">
                  <c:v>8.8000000000000007</c:v>
                </c:pt>
                <c:pt idx="2">
                  <c:v>9.1</c:v>
                </c:pt>
                <c:pt idx="3">
                  <c:v>10.6</c:v>
                </c:pt>
                <c:pt idx="4">
                  <c:v>13.4</c:v>
                </c:pt>
                <c:pt idx="5">
                  <c:v>13.05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6FE-496E-8BC0-26B8A6365B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8FA8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1E-423D-9A33-C9C77B88A25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1E-423D-9A33-C9C77B88A252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1E-423D-9A33-C9C77B88A25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C1E-423D-9A33-C9C77B88A252}"/>
              </c:ext>
            </c:extLst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C1E-423D-9A33-C9C77B88A252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Risk-Free
Rate</c:v>
                </c:pt>
                <c:pt idx="1">
                  <c:v>Beta × ERP</c:v>
                </c:pt>
                <c:pt idx="2">
                  <c:v>Cost of
Equity</c:v>
                </c:pt>
                <c:pt idx="3">
                  <c:v>After-Tax
Cost of Debt</c:v>
                </c:pt>
                <c:pt idx="4">
                  <c:v>WACC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4.55</c:v>
                </c:pt>
                <c:pt idx="1">
                  <c:v>6.55</c:v>
                </c:pt>
                <c:pt idx="2">
                  <c:v>11.1</c:v>
                </c:pt>
                <c:pt idx="3">
                  <c:v>4.3099999999999996</c:v>
                </c:pt>
                <c:pt idx="4">
                  <c:v>10.41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C1E-423D-9A33-C9C77B88A2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57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TESLA, INC.  |  INTEGRATED FINANCIAL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76895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Analysis — Portfolio Project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161D4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063240"/>
            <a:ext cx="137160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DOCUMENTATION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Tesla, Inc.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40416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FA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Financial Model &amp; DCF 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4988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2E8"/>
                </a:solidFill>
              </a:rPr>
              <a:t>A walkthrough of the full model — architecture, assumptions, and valuation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799" y="5257800"/>
            <a:ext cx="11001703" cy="1051560"/>
          </a:xfrm>
          <a:prstGeom prst="roundRect">
            <a:avLst>
              <a:gd name="adj" fmla="val 6957"/>
            </a:avLst>
          </a:prstGeom>
          <a:solidFill>
            <a:srgbClr val="252D6B"/>
          </a:solidFill>
          <a:ln/>
        </p:spPr>
      </p:sp>
      <p:sp>
        <p:nvSpPr>
          <p:cNvPr id="9" name="Text 7"/>
          <p:cNvSpPr/>
          <p:nvPr/>
        </p:nvSpPr>
        <p:spPr>
          <a:xfrm>
            <a:off x="1095699" y="5394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$24.23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5699" y="5897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AA6D6"/>
                </a:solidFill>
              </a:rPr>
              <a:t>DCF INTRINSIC VALUE (BASE CASE)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78979" y="5394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FA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$408.95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78979" y="5897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AA6D6"/>
                </a:solidFill>
              </a:rPr>
              <a:t>CURRENT MARKET PRICE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2259" y="5394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10.41%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62259" y="5897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9AA6D6"/>
                </a:solidFill>
              </a:rPr>
              <a:t>WACC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6537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C4"/>
                </a:solidFill>
              </a:rPr>
              <a:t>Version 1.0  |  July 2026  |  Not investment advice — prepared for portfolio purposes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55448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Estimate Tesla's intrinsic value using a bottom-up, driver-based DCF, compared against market price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73152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Scope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69748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Automotive (5 vehicle lines) + Energy &amp; Other segments; FY2026–FY2032 explicit forecast on 5 years of 10-K history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73152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404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Model Type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84048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Fully integrated three-statement model with explicit Best/Base/Worst scenario logic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73152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834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Valuation Method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98348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DCF (FCFF), bottom-up Hamada beta, CAPM cost of equity, Gordon Growth terminal 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52145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>
                <a:solidFill>
                  <a:srgbClr val="111827"/>
                </a:solidFill>
              </a:rPr>
              <a:t>The model flows in </a:t>
            </a:r>
            <a:r>
              <a:rPr lang="en-IN" sz="1250" dirty="0">
                <a:solidFill>
                  <a:srgbClr val="111827"/>
                </a:solidFill>
              </a:rPr>
              <a:t>cross-sheet/checks</a:t>
            </a:r>
            <a:r>
              <a:rPr lang="en-IN" sz="1400" dirty="0">
                <a:solidFill>
                  <a:srgbClr val="111827"/>
                </a:solidFill>
              </a:rPr>
              <a:t>.</a:t>
            </a:r>
            <a:endParaRPr lang="en-US" sz="1250" dirty="0"/>
          </a:p>
        </p:txBody>
      </p:sp>
      <p:pic>
        <p:nvPicPr>
          <p:cNvPr id="6" name="Image 0" descr="/home/claude/charts/model_architecture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4389120" y="1316736"/>
            <a:ext cx="2105465" cy="5326341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Workbook Structure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6168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Cover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Project title and identification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Drivers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Global assumptions: risk-free rate, beta, tax rate, scenario toggle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Inputs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Historical data as reported in Tesla's 10-K filings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Workings — Automotive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Deliveries, pricing, revenue, and margin build-up by vehicle line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Workings — Energy &amp; Other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Energy generation/storage and services revenue build-up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Workings — Opex / Balance Sheet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Operating expenses, PP&amp;E, working capital, financing schedules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Output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Fully integrated P&amp;L, Balance Sheet, Cash Flow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Valuation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WACC and DCF Valuation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80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</a:rPr>
              <a:t>38 sheets total, including labeled section-divider tabs for navigation.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Coding Convention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55448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Hardcoded 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554480" cy="7315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423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Formula (same sheet)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554480" cy="73152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Purple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Link to another sheet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554480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Orange / Bold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4160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Check cell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554480" cy="7315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Grey / Navy Bold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5029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Header / label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dirty="0"/>
              <a:t>blue cells identify hardcoded assumptions/inputs</a:t>
            </a:r>
            <a:r>
              <a:rPr lang="en-IN" sz="1050" dirty="0"/>
              <a:t>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536350"/>
              </p:ext>
            </p:extLst>
          </p:nvPr>
        </p:nvGraphicFramePr>
        <p:xfrm>
          <a:off x="548640" y="1371600"/>
          <a:ext cx="11064240" cy="477316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Basis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Risk-free rate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4.55%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10-year U.S. Treasury yield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Equity risk premium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5.50%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U.S. market risk premium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Beta (relevered)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1.19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Hamada unlever/relever at target D/E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Marginal tax rate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21.0%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U.S. federal statutory rate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Target D/E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11.4%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5-yr average debt weight, 2022–26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Terminal growth rate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4.55%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= risk-free rate 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Capex basis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% of prior-year PP&amp;E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Toggle available for % of revenue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Working capital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5-yr avg DSO/DIO/DPO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Held flat across all scenarios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Total revenue is built bottom-up from two segments, each forecast independently: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2F3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Automotive Revenue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Deliveries × Average Selling Price, by 5 vehicle lines (Model 3, S/X, Y, Cybertruck, Semi)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2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520440"/>
            <a:ext cx="91440" cy="1371600"/>
          </a:xfrm>
          <a:prstGeom prst="rect">
            <a:avLst/>
          </a:prstGeom>
          <a:solidFill>
            <a:srgbClr val="8FA8E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Energy &amp; Other Revenue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Energy generation and storage + Services and other, forecast on a Y-o-Y growth basis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Model S and Model X are modeled as one combined delivery line (blended ASP average).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Automotive Segment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pic>
        <p:nvPicPr>
          <p:cNvPr id="5" name="Image 0" descr="/home/claude/screenshots/revenue_drivers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548640" y="910805"/>
            <a:ext cx="11127935" cy="47397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1802" y="5344668"/>
            <a:ext cx="8117057" cy="982980"/>
          </a:xfrm>
          <a:prstGeom prst="rect">
            <a:avLst/>
          </a:prstGeom>
          <a:solidFill>
            <a:srgbClr val="F2F3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785445" y="5503866"/>
            <a:ext cx="4015834" cy="305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▪  Vehicle Deliveries — 5 lines, CHOOSE() scenario-driven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5445" y="5865484"/>
            <a:ext cx="4015834" cy="4055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▪  Average Selling Price — held flat in nominal terms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34485" y="5865484"/>
            <a:ext cx="4015834" cy="4055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▪  Revenue — Σ(Deliveries × ASP)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34485" y="5521607"/>
            <a:ext cx="4015834" cy="4055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▪  Gross Margin — benchmarked to auto peers by 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Segment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9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11827"/>
                </a:solidFill>
              </a:rPr>
              <a:t>Tesla reports Energy &amp; Other as one segment — </a:t>
            </a:r>
            <a:r>
              <a:rPr lang="en-IN" sz="1200" dirty="0"/>
              <a:t>The model follows that reporting structure.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860587"/>
              </p:ext>
            </p:extLst>
          </p:nvPr>
        </p:nvGraphicFramePr>
        <p:xfrm>
          <a:off x="548640" y="2148840"/>
          <a:ext cx="1106424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Basis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Base case margin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11.4% — FY21–25 historical median, held flat despite a trend (−3.5% → 18.7%)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Growth trajectory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Decelerates from 18% (FY2026) to a 6% long-run rate by FY2030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Scenario band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Best/Worst flex by ± the inflation assumption (3.1%)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Expenses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Modeled as a single blended line (% of revenue) — matching Tesla's reported income statement detail rather than an unsupported R&amp;D/SG&amp;A split.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03120"/>
          <a:ext cx="6400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2103120"/>
            <a:ext cx="4434840" cy="3840480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8" name="Text 5"/>
          <p:cNvSpPr/>
          <p:nvPr/>
        </p:nvSpPr>
        <p:spPr>
          <a:xfrm>
            <a:off x="745236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FORECAST LOGIC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52360" y="27432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11827"/>
                </a:solidFill>
              </a:rPr>
              <a:t>The Base case converges opex toward a peer-benchmarked “Adjusted Average” of 13.05%. </a:t>
            </a:r>
            <a:br>
              <a:rPr lang="en-US" sz="1100" dirty="0">
                <a:solidFill>
                  <a:srgbClr val="111827"/>
                </a:solidFill>
              </a:rPr>
            </a:b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Capital, PP&amp;E &amp; Financing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971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Schedule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Assumption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Working Capital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DSO / DIO / DPO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14.5 / 60.2 / 72.8 days (5-yr avg), flat across scenarios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PP&amp;E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Capex basis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% of prior-year PP&amp;E (28% Base case); 10-yr straight-line, vintage schedule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Financing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Debt/equity plug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50/50 split funds any negative FCF period; dormant under Base case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</a:rPr>
                        <a:t>Financing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Cost of debt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</a:rPr>
                        <a:t>5.45% market bond yield (not historical effective rate)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63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Net PP&amp;E = Prior-year Net PP&amp;E + Capex − Depreciation, rolling forward into the Balance Sheet each year.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Three-Statement Integration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pic>
        <p:nvPicPr>
          <p:cNvPr id="6" name="Image 0" descr="/home/claude/charts/three_statement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0" y="951186"/>
            <a:ext cx="3840480" cy="5120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287051"/>
            <a:ext cx="6400800" cy="1645920"/>
          </a:xfrm>
          <a:prstGeom prst="rect">
            <a:avLst/>
          </a:prstGeom>
          <a:solidFill>
            <a:srgbClr val="EAF3EE"/>
          </a:solidFill>
          <a:ln w="9525">
            <a:solidFill>
              <a:srgbClr val="3E7C5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73152" cy="1645920"/>
          </a:xfrm>
          <a:prstGeom prst="rect">
            <a:avLst/>
          </a:prstGeom>
          <a:solidFill>
            <a:srgbClr val="3E7C5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688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E7C59"/>
                </a:solidFill>
              </a:rPr>
              <a:t>VERIFIED INTEGRITY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Balance Sheet and Cash Flow check rows both equal exactly zero in every period, FY2021–FY2035.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Cash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60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EBIT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Operating income before interest and taxes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NOPAT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EBIT × (1 − 21% marginal tax rate)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+ D&amp;A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Added back as a non-cash expense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− Capex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Cash reinvested per the vintage-based PP&amp;E schedule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− Δ Working Capital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Cash absorbed/released by receivables, inventory, payables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= FCFF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Cash available to all capital providers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Capital (WACC)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384988538"/>
              </p:ext>
            </p:extLst>
          </p:nvPr>
        </p:nvGraphicFramePr>
        <p:xfrm>
          <a:off x="548640" y="141732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417320"/>
            <a:ext cx="3840480" cy="4206240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</a:rPr>
              <a:t>TARGET CAPITAL STRUCTURE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2148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89.1%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04672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Equity Weight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46720" y="3063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A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10.9%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04672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Debt Weight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3977640"/>
            <a:ext cx="33832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4160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WACC = 10.41%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DCF Valuation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9418320" cy="4608576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Case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Terminal Value (undiscounted)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$154,658M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Enterprise Value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$82,800M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Value of Equity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$90,937M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Diluted Shares Outstanding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3,752.43M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Value per Share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$24.23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Current Market Price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$408.95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Implied Multiple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16.9x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Analysis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11827"/>
                </a:solidFill>
              </a:rPr>
              <a:t>Terminal Value = FCFF(n+1) ÷ (WACC − Terminal Growth).</a:t>
            </a:r>
            <a:r>
              <a:rPr lang="en-IN" sz="1200" dirty="0"/>
              <a:t> Terminal value is sensitive to the WACC–terminal-growth spread.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WACC \ Growth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3.55%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4.55%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5.55%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6.55%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7.55%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8.41%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$186,512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$234,891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$317,157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$488,108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$1,058,827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10.41%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$132,098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$154,658</a:t>
                      </a:r>
                      <a:endParaRPr lang="en-US" sz="11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$186,512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$234,891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$317,157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12.41%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$102,263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$115,281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$132,098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$154,658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$186,512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14.41%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$83,422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$91,886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$102,263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$115,281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$132,098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16.41%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$70,443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$76,385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$83,422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$91,886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$102,263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18.41%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$60,959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$65,359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$70,443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$76,385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$83,422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166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</a:rPr>
              <a:t>Base case (WACC 10.41%, Terminal Growth 4.55%)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Checks &amp; Integrity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730752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Balance Sheet balances (Assets = Liab. + Equity)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7C59"/>
                          </a:solidFill>
                        </a:rPr>
                        <a:t>✓ Zero variance, every period FY21–FY35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Cash Flow reconciles to Balance Sheet cash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7C59"/>
                          </a:solidFill>
                        </a:rPr>
                        <a:t>✓ Zero variance, every period FY21–FY35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Circular references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7C59"/>
                          </a:solidFill>
                        </a:rPr>
                        <a:t>✓ None detected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Broken formulas (#REF!, #VALUE!, #DIV/0!)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7C59"/>
                          </a:solidFill>
                        </a:rPr>
                        <a:t>✓ 0 errors across 3,357 formulas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Scenario toggle consistency across driver tabs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7C59"/>
                          </a:solidFill>
                        </a:rPr>
                        <a:t>✓ CHOOSE() pattern verified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Limitations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Scope: core business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4630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11827"/>
                </a:solidFill>
              </a:rPr>
              <a:t>Excludes FSD, robotaxi, Optimus, and energy storage optionality — </a:t>
            </a:r>
            <a:r>
              <a:rPr lang="en-IN" sz="1100" dirty="0"/>
              <a:t>these items are outside the model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73152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0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Peer data vintage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5603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11827"/>
                </a:solidFill>
              </a:rPr>
              <a:t>Opex and working capital benchmarks use 2019 peer data </a:t>
            </a:r>
            <a:r>
              <a:rPr lang="en-IN" sz="1100" dirty="0"/>
              <a:t>and therefore may not reflect current cost structures.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73152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Working capital doesn't flex by scenario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365760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DSO/DIO/DPO held constant across Best/Base/Worst while volumes and margins do flex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73152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54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Scenario bands vary by driver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475488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11827"/>
                </a:solidFill>
              </a:rPr>
              <a:t>Deliveries ±5% (relative), margins ±1.5pp, opex ±2pp, Energy ±inflation — </a:t>
            </a:r>
            <a:r>
              <a:rPr lang="en-IN" sz="1100" dirty="0"/>
              <a:t>the scenario adjustments vary by driver.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Base Case DCF intrinsic value: </a:t>
            </a:r>
            <a:r>
              <a:rPr lang="en-US" sz="1400" b="1" dirty="0">
                <a:solidFill>
                  <a:srgbClr val="1E2761"/>
                </a:solidFill>
              </a:rPr>
              <a:t>$24.23/share</a:t>
            </a:r>
            <a:r>
              <a:rPr lang="en-US" sz="1400" dirty="0">
                <a:solidFill>
                  <a:srgbClr val="111827"/>
                </a:solidFill>
              </a:rPr>
              <a:t>  vs. market price </a:t>
            </a:r>
            <a:r>
              <a:rPr lang="en-US" sz="1400" b="1" dirty="0">
                <a:solidFill>
                  <a:srgbClr val="C9A227"/>
                </a:solidFill>
              </a:rPr>
              <a:t>$408.95</a:t>
            </a:r>
            <a:r>
              <a:rPr lang="en-US" sz="1400" dirty="0">
                <a:solidFill>
                  <a:srgbClr val="111827"/>
                </a:solidFill>
              </a:rPr>
              <a:t>  (16.9x implied multiple)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3880" y="2103120"/>
            <a:ext cx="11064240" cy="1097280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Investment Implication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0" y="210312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Base Case DCF value is substantially below the current market price within the model's defined scope.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Key Value Drivers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0" y="338328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Delivery volume (Model Y/3), automotive gross margin trajectory, and pace of opex convergence to peer benchmarks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solidFill>
            <a:srgbClr val="F2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63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Major Risks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0" y="46634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Terminal value sensitivity to WACC–growth spread, peer data vintage, and excluded revenue optionality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46888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651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8E8"/>
                </a:solidFill>
              </a:rPr>
              <a:t>Tesla, Inc. — Integrated Financial Model &amp; DCF Valuation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44805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9C2E8"/>
                </a:solidFill>
              </a:rPr>
              <a:t>This presentation was prepared as part of an independent financial modeling and valuation portfolio project. It does not constitute investment advice, a research report from a registered investment adviser or broker-dealer, or a recommendation to buy, sell, or hold any security. Historical data is sourced from Tesla, Inc.'s public SEC filings; forward-looking figures are model estimates only.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1431</Words>
  <Application>Microsoft Office PowerPoint</Application>
  <PresentationFormat>Widescreen</PresentationFormat>
  <Paragraphs>301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MONOJIT SAMANTA</cp:lastModifiedBy>
  <cp:revision>3</cp:revision>
  <dcterms:created xsi:type="dcterms:W3CDTF">2026-07-25T22:06:11Z</dcterms:created>
  <dcterms:modified xsi:type="dcterms:W3CDTF">2026-08-16T19:54:55Z</dcterms:modified>
</cp:coreProperties>
</file>